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182880"/>
          </a:xfrm>
          <a:prstGeom prst="rect">
            <a:avLst/>
          </a:prstGeom>
          <a:solidFill>
            <a:srgbClr val="CC0D2C"/>
          </a:solidFill>
          <a:ln w="12700">
            <a:solidFill>
              <a:srgbClr val="CC0D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768096"/>
            <a:ext cx="457200" cy="0"/>
          </a:xfrm>
          <a:prstGeom prst="line">
            <a:avLst/>
          </a:prstGeom>
          <a:noFill/>
          <a:ln w="25400">
            <a:solidFill>
              <a:srgbClr val="CC0D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932688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089904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2362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</a:t>
            </a:r>
            <a:pPr algn="l" indent="0" marL="0">
              <a:buNone/>
            </a:pPr>
            <a:r>
              <a:rPr lang="en-US" sz="1300" b="1" dirty="0">
                <a:solidFill>
                  <a:srgbClr val="CC0D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gentica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14255" y="6236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06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NOVAGENTICA · INTERNAL DECISION · 24 JUN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17904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6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back office, on one vendor.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Decision: Deel.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61188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· IT · EOR · Payroll · Recruiting · managed endpoint. One contract, across the 3→30 ramp (Jul 26 → Jun 28).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5650992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type-1 call. </a:t>
            </a:r>
            <a:pPr algn="l" indent="0" marL="0">
              <a:buNone/>
            </a:pPr>
            <a:r>
              <a:rPr lang="en-US" sz="1500" b="1" i="1" dirty="0">
                <a:solidFill>
                  <a:srgbClr val="0E0E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Decided on the terms — not the price.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I.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548640" y="768096"/>
            <a:ext cx="457200" cy="0"/>
          </a:xfrm>
          <a:prstGeom prst="line">
            <a:avLst/>
          </a:prstGeom>
          <a:noFill/>
          <a:ln w="25400">
            <a:solidFill>
              <a:srgbClr val="CC0D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932688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089904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2362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</a:t>
            </a:r>
            <a:pPr algn="l" indent="0" marL="0">
              <a:buNone/>
            </a:pPr>
            <a:r>
              <a:rPr lang="en-US" sz="1300" b="1" dirty="0">
                <a:solidFill>
                  <a:srgbClr val="CC0D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gentica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14255" y="6236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06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444752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0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question, decided.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432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154680" y="2743200"/>
            <a:ext cx="848837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Deel as the single managed back-office vendor — 2-year term, 3→30 ramp.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3529584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154680" y="3529584"/>
            <a:ext cx="848837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Shiv. Felix owns the payroll go-live gate.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315968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REVERSIBILITY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154680" y="4315968"/>
            <a:ext cx="848837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Type-1. Re-migrating payroll + identity + devices off one platform is expensive — decide deliberately.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261104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102352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BY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154680" y="5102352"/>
            <a:ext cx="848837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Stage-1 onboarding (Jul 2026). Pre-signature is peak leverage.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48640" y="5047488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II.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548640" y="768096"/>
            <a:ext cx="457200" cy="0"/>
          </a:xfrm>
          <a:prstGeom prst="line">
            <a:avLst/>
          </a:prstGeom>
          <a:noFill/>
          <a:ln w="25400">
            <a:solidFill>
              <a:srgbClr val="CC0D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932688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089904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2362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</a:t>
            </a:r>
            <a:pPr algn="l" indent="0" marL="0">
              <a:buNone/>
            </a:pPr>
            <a:r>
              <a:rPr lang="en-US" sz="1300" b="1" dirty="0">
                <a:solidFill>
                  <a:srgbClr val="CC0D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gentica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14255" y="6236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06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MODEL SAID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444752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36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was a tie. The call wasn't about price.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48640" y="2542032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98064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2-YEAR COST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154680" y="2798064"/>
            <a:ext cx="8488375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Deel €97.2k vs Rippling €96.4k — 0.9%. A tie, within model noise.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154680" y="3566160"/>
            <a:ext cx="8488375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Deel is USD-billed; Rippling EUR-native. The weak-EUR case swings ~€8k against Deel.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511296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334256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SCORECARD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154680" y="4334256"/>
            <a:ext cx="8488375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Deel 3.85 · Rippling 4.05 — close, and it flips on small changes.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279392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102352"/>
            <a:ext cx="24688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THEREFORE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154680" y="5102352"/>
            <a:ext cx="8488375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Decided on terms and fit, not on cost.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48640" y="5047488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III.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548640" y="768096"/>
            <a:ext cx="457200" cy="0"/>
          </a:xfrm>
          <a:prstGeom prst="line">
            <a:avLst/>
          </a:prstGeom>
          <a:noFill/>
          <a:ln w="25400">
            <a:solidFill>
              <a:srgbClr val="CC0D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932688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089904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2362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</a:t>
            </a:r>
            <a:pPr algn="l" indent="0" marL="0">
              <a:buNone/>
            </a:pPr>
            <a:r>
              <a:rPr lang="en-US" sz="1300" b="1" dirty="0">
                <a:solidFill>
                  <a:srgbClr val="CC0D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gentica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14255" y="6236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06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444752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0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Deel, not Rippling.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2743200"/>
            <a:ext cx="0" cy="2743200"/>
          </a:xfrm>
          <a:prstGeom prst="line">
            <a:avLst/>
          </a:prstGeom>
          <a:noFill/>
          <a:ln w="19050">
            <a:solidFill>
              <a:srgbClr val="CC0D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743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RIPPLING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127248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Held the auto-renewal clause.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not lease IT devices.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Leads the draft scorecard — but on points that tie.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2743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C0D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3127248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0E0E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auto-renewal + locked rate — leverage at renewal.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0E0E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Leases IT devices — no internal IT hire.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0E0E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pre-registered tripwire chose it.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5650992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an all-eggs bet, </a:t>
            </a:r>
            <a:pPr algn="l" indent="0" marL="0">
              <a:buNone/>
            </a:pPr>
            <a:r>
              <a:rPr lang="en-US" sz="1500" b="1" i="1" dirty="0">
                <a:solidFill>
                  <a:srgbClr val="0E0E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optionality beats a 0.2-point edge.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IV.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548640" y="768096"/>
            <a:ext cx="457200" cy="0"/>
          </a:xfrm>
          <a:prstGeom prst="line">
            <a:avLst/>
          </a:prstGeom>
          <a:noFill/>
          <a:ln w="25400">
            <a:solidFill>
              <a:srgbClr val="CC0D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932688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089904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2362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</a:t>
            </a:r>
            <a:pPr algn="l" indent="0" marL="0">
              <a:buNone/>
            </a:pPr>
            <a:r>
              <a:rPr lang="en-US" sz="1300" b="1" dirty="0">
                <a:solidFill>
                  <a:srgbClr val="CC0D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gentica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14255" y="6236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06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 OF SIGNATURE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444752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accept — and how we de-risk it.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548640" y="2505456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61488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7797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THE DE COUNTRY FEE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2779776"/>
            <a:ext cx="6979615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EOR may carry a mandatory entity fee. Know it, and budget it, before signing.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410712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4290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LOCK THE FX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3429000"/>
            <a:ext cx="6979615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Fixed-FX clause or a simple hedge — Deel bills in USD.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374136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059936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407822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DE-RISK THE GO-LIVE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63440" y="4078224"/>
            <a:ext cx="6979615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Named, proven implementation lead; a recovered-failure reference. Felix lived a failed Deel go-live.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023360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709160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472744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 PAYROLL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63440" y="4727448"/>
            <a:ext cx="6979615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clean cycles before cutover. Never single-cut pay.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672584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358384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25880" y="537667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IN WRITING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63440" y="5376672"/>
            <a:ext cx="6979615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auto-renewal, data export + exit assistance, SLAs with credits, device-lease scope.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321808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" cy="182880"/>
          </a:xfrm>
          <a:prstGeom prst="rect">
            <a:avLst/>
          </a:prstGeom>
          <a:solidFill>
            <a:srgbClr val="CC0D2C"/>
          </a:solidFill>
          <a:ln w="12700">
            <a:solidFill>
              <a:srgbClr val="CC0D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768096"/>
            <a:ext cx="457200" cy="0"/>
          </a:xfrm>
          <a:prstGeom prst="line">
            <a:avLst/>
          </a:prstGeom>
          <a:noFill/>
          <a:ln w="25400">
            <a:solidFill>
              <a:srgbClr val="CC0D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932688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089904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2362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</a:t>
            </a:r>
            <a:pPr algn="l" indent="0" marL="0">
              <a:buNone/>
            </a:pPr>
            <a:r>
              <a:rPr lang="en-US" sz="1300" b="1" dirty="0">
                <a:solidFill>
                  <a:srgbClr val="CC0D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gentica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14255" y="6236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06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133856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A8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48132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400" b="1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Approved. Conditional.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2596896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Deel — sign once the conditions are met.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11094415" cy="0"/>
          </a:xfrm>
          <a:prstGeom prst="line">
            <a:avLst/>
          </a:prstGeom>
          <a:noFill/>
          <a:ln w="12700">
            <a:solidFill>
              <a:srgbClr val="D9D9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493008"/>
            <a:ext cx="24688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CEO REVIEW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54680" y="3493008"/>
            <a:ext cx="8488375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Approve, conditional. Optionality preserved; execution risk owned.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4151376"/>
            <a:ext cx="24688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CROSS-MODEL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54680" y="4151376"/>
            <a:ext cx="8488375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Two-model (Claude + Gemini): Deel confirmed. PAUSE on status — clear the 4 diligence items before signing.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4096512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809744"/>
            <a:ext cx="24688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E0E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REOPEN IF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154680" y="4809744"/>
            <a:ext cx="8488375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Rippling's refusal wasn't final, or the DE fee breaks the budget — before signature.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6350">
            <a:solidFill>
              <a:srgbClr val="D9D9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632704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C5C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Decided on the terms. </a:t>
            </a:r>
            <a:pPr algn="l" indent="0" marL="0">
              <a:buNone/>
            </a:pPr>
            <a:r>
              <a:rPr lang="en-US" sz="1500" b="1" i="1" dirty="0">
                <a:solidFill>
                  <a:srgbClr val="CC0D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the price.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2026-06-24T23:56:45Z</dcterms:created>
  <dcterms:modified xsi:type="dcterms:W3CDTF">2026-06-24T23:56:45Z</dcterms:modified>
</cp:coreProperties>
</file>